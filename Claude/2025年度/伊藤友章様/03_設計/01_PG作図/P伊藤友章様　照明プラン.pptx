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12801600" cy="9601200" type="A3"/>
  <p:notesSz cx="1466215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剛 倉田" initials="剛倉" lastIdx="2" clrIdx="0">
    <p:extLst>
      <p:ext uri="{19B8F6BF-5375-455C-9EA6-DF929625EA0E}">
        <p15:presenceInfo xmlns:p15="http://schemas.microsoft.com/office/powerpoint/2012/main" userId="4f75f71e50886e4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A0F2"/>
    <a:srgbClr val="FE7A02"/>
    <a:srgbClr val="3FCDFF"/>
    <a:srgbClr val="EE9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1386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964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35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70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38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776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80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674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0550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846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271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165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FFC60-55C0-4BA9-8F4D-DCF41C2292B6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3570-7099-48E3-A633-ED1D61D820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68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kumimoji="1"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kumimoji="1"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kumimoji="1"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3" Type="http://schemas.openxmlformats.org/officeDocument/2006/relationships/image" Target="../media/image2.png"/><Relationship Id="rId21" Type="http://schemas.openxmlformats.org/officeDocument/2006/relationships/image" Target="../media/image20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5" Type="http://schemas.openxmlformats.org/officeDocument/2006/relationships/image" Target="../media/image24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24" Type="http://schemas.openxmlformats.org/officeDocument/2006/relationships/image" Target="../media/image23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942ECE2-14F0-4E88-AB1F-5E8C20EEBF28}"/>
              </a:ext>
            </a:extLst>
          </p:cNvPr>
          <p:cNvSpPr/>
          <p:nvPr/>
        </p:nvSpPr>
        <p:spPr>
          <a:xfrm>
            <a:off x="0" y="0"/>
            <a:ext cx="4358654" cy="69401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 dirty="0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12A7370F-865D-EA76-B4D6-3ACC5A11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08" y="3329777"/>
            <a:ext cx="3382206" cy="3059029"/>
          </a:xfrm>
          <a:prstGeom prst="rect">
            <a:avLst/>
          </a:prstGeom>
        </p:spPr>
      </p:pic>
      <p:pic>
        <p:nvPicPr>
          <p:cNvPr id="1025" name="図 1024">
            <a:extLst>
              <a:ext uri="{FF2B5EF4-FFF2-40B4-BE49-F238E27FC236}">
                <a16:creationId xmlns:a16="http://schemas.microsoft.com/office/drawing/2014/main" id="{6971B3E2-495C-3F36-F989-4C526CEE2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86" y="199077"/>
            <a:ext cx="3491760" cy="22333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5E07F1-D10E-4DF7-BEF7-7A1D3FE972B2}"/>
              </a:ext>
            </a:extLst>
          </p:cNvPr>
          <p:cNvSpPr txBox="1"/>
          <p:nvPr/>
        </p:nvSpPr>
        <p:spPr>
          <a:xfrm>
            <a:off x="-10045" y="8976369"/>
            <a:ext cx="12827881" cy="635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ja-JP" altLang="en-US" sz="3528" dirty="0"/>
              <a:t>  </a:t>
            </a:r>
            <a:r>
              <a:rPr lang="en-US" altLang="ja-JP" sz="3528" dirty="0"/>
              <a:t>PG House     </a:t>
            </a:r>
            <a:r>
              <a:rPr lang="ja-JP" altLang="en-US" sz="3528" dirty="0"/>
              <a:t>　　　　　</a:t>
            </a:r>
            <a:r>
              <a:rPr lang="ja-JP" altLang="en-US" sz="2400" dirty="0"/>
              <a:t>伊藤友章様邸　新築工事 　  　</a:t>
            </a:r>
            <a:r>
              <a:rPr lang="en-US" altLang="ja-JP" sz="3528" dirty="0"/>
              <a:t>Lighting</a:t>
            </a:r>
            <a:r>
              <a:rPr lang="ja-JP" altLang="en-US" sz="3528" dirty="0"/>
              <a:t>　</a:t>
            </a:r>
            <a:r>
              <a:rPr lang="en-US" altLang="ja-JP" sz="3528" dirty="0"/>
              <a:t>Plan  </a:t>
            </a:r>
            <a:r>
              <a:rPr lang="en-US" altLang="ja-JP" sz="1600" dirty="0"/>
              <a:t>( </a:t>
            </a:r>
            <a:r>
              <a:rPr lang="ja-JP" altLang="en-US" sz="1400" dirty="0"/>
              <a:t>図番</a:t>
            </a:r>
            <a:r>
              <a:rPr lang="ja-JP" altLang="en-US" sz="1600" dirty="0"/>
              <a:t> </a:t>
            </a:r>
            <a:r>
              <a:rPr lang="en-US" altLang="ja-JP" sz="1600" dirty="0"/>
              <a:t>7-3 )</a:t>
            </a:r>
            <a:endParaRPr lang="ja-JP" altLang="en-US" sz="1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26FAD9-F621-466A-BB4B-2E9AB6C5181D}"/>
              </a:ext>
            </a:extLst>
          </p:cNvPr>
          <p:cNvSpPr txBox="1"/>
          <p:nvPr/>
        </p:nvSpPr>
        <p:spPr>
          <a:xfrm>
            <a:off x="8179624" y="11065725"/>
            <a:ext cx="2040943" cy="6352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ja-JP" sz="3528" dirty="0"/>
              <a:t>2nd  Floor</a:t>
            </a:r>
            <a:endParaRPr lang="ja-JP" altLang="en-US" sz="3528" dirty="0"/>
          </a:p>
        </p:txBody>
      </p:sp>
      <p:pic>
        <p:nvPicPr>
          <p:cNvPr id="72" name="Picture 18">
            <a:extLst>
              <a:ext uri="{FF2B5EF4-FFF2-40B4-BE49-F238E27FC236}">
                <a16:creationId xmlns:a16="http://schemas.microsoft.com/office/drawing/2014/main" id="{CBE1AC04-F9E8-474E-8DCF-817A9C46E3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53" t="15754" b="13710"/>
          <a:stretch/>
        </p:blipFill>
        <p:spPr bwMode="auto">
          <a:xfrm>
            <a:off x="-3569600" y="11424704"/>
            <a:ext cx="1545683" cy="1081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BF84573-8046-455C-882F-B0D873230202}"/>
              </a:ext>
            </a:extLst>
          </p:cNvPr>
          <p:cNvSpPr txBox="1"/>
          <p:nvPr/>
        </p:nvSpPr>
        <p:spPr>
          <a:xfrm>
            <a:off x="-1498571" y="12428605"/>
            <a:ext cx="1025537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540" dirty="0"/>
              <a:t>AXCIS,INC.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23B5B601-CD44-42C3-B118-DC1060513C43}"/>
              </a:ext>
            </a:extLst>
          </p:cNvPr>
          <p:cNvSpPr txBox="1"/>
          <p:nvPr/>
        </p:nvSpPr>
        <p:spPr>
          <a:xfrm>
            <a:off x="-1494350" y="11125737"/>
            <a:ext cx="1367682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dirty="0"/>
              <a:t>標準スイッチ</a:t>
            </a:r>
            <a:endParaRPr lang="en-US" altLang="ja-JP" sz="1540" dirty="0"/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4120F010-E70E-478B-B854-73B6289757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094" t="10274" r="3052" b="9028"/>
          <a:stretch/>
        </p:blipFill>
        <p:spPr>
          <a:xfrm>
            <a:off x="-1665846" y="11459374"/>
            <a:ext cx="601905" cy="1015003"/>
          </a:xfrm>
          <a:prstGeom prst="rect">
            <a:avLst/>
          </a:prstGeom>
        </p:spPr>
      </p:pic>
      <p:sp>
        <p:nvSpPr>
          <p:cNvPr id="17" name="楕円 16">
            <a:extLst>
              <a:ext uri="{FF2B5EF4-FFF2-40B4-BE49-F238E27FC236}">
                <a16:creationId xmlns:a16="http://schemas.microsoft.com/office/drawing/2014/main" id="{65CAC98F-28CD-B912-95A7-5DF7F57834C3}"/>
              </a:ext>
            </a:extLst>
          </p:cNvPr>
          <p:cNvSpPr/>
          <p:nvPr/>
        </p:nvSpPr>
        <p:spPr>
          <a:xfrm>
            <a:off x="11195082" y="5041339"/>
            <a:ext cx="98178" cy="972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5A0C3B0-A11E-51A7-E7C9-EB157FA6AB86}"/>
              </a:ext>
            </a:extLst>
          </p:cNvPr>
          <p:cNvSpPr txBox="1"/>
          <p:nvPr/>
        </p:nvSpPr>
        <p:spPr>
          <a:xfrm>
            <a:off x="1996665" y="2499511"/>
            <a:ext cx="579005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b="1" dirty="0"/>
              <a:t>２階</a:t>
            </a:r>
            <a:endParaRPr lang="en-US" altLang="ja-JP" sz="1540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BC5F786-23B9-A9DB-D4A3-0D051B218D10}"/>
              </a:ext>
            </a:extLst>
          </p:cNvPr>
          <p:cNvSpPr txBox="1"/>
          <p:nvPr/>
        </p:nvSpPr>
        <p:spPr>
          <a:xfrm>
            <a:off x="1981772" y="6610803"/>
            <a:ext cx="579005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b="1" dirty="0"/>
              <a:t>１階</a:t>
            </a:r>
            <a:endParaRPr lang="en-US" altLang="ja-JP" sz="1540" b="1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797B66F1-8731-0873-D702-E989F388AB63}"/>
              </a:ext>
            </a:extLst>
          </p:cNvPr>
          <p:cNvSpPr/>
          <p:nvPr/>
        </p:nvSpPr>
        <p:spPr>
          <a:xfrm>
            <a:off x="9346074" y="5059338"/>
            <a:ext cx="98178" cy="9726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E8129140-29A9-9448-ECBB-8CD56CA5028A}"/>
              </a:ext>
            </a:extLst>
          </p:cNvPr>
          <p:cNvSpPr/>
          <p:nvPr/>
        </p:nvSpPr>
        <p:spPr>
          <a:xfrm>
            <a:off x="-792619" y="1415022"/>
            <a:ext cx="98178" cy="9726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3AC33646-4022-87A3-7ED8-8379F2E84275}"/>
              </a:ext>
            </a:extLst>
          </p:cNvPr>
          <p:cNvSpPr/>
          <p:nvPr/>
        </p:nvSpPr>
        <p:spPr>
          <a:xfrm>
            <a:off x="-650830" y="1744101"/>
            <a:ext cx="98178" cy="9726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87CE48E1-AAC0-8000-96AA-E85B3CD3C440}"/>
              </a:ext>
            </a:extLst>
          </p:cNvPr>
          <p:cNvSpPr/>
          <p:nvPr/>
        </p:nvSpPr>
        <p:spPr>
          <a:xfrm>
            <a:off x="11108435" y="289646"/>
            <a:ext cx="98178" cy="9726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99156A16-C8F9-4624-B1A1-4B3709442E61}"/>
              </a:ext>
            </a:extLst>
          </p:cNvPr>
          <p:cNvSpPr/>
          <p:nvPr/>
        </p:nvSpPr>
        <p:spPr>
          <a:xfrm>
            <a:off x="9322746" y="304712"/>
            <a:ext cx="98178" cy="97268"/>
          </a:xfrm>
          <a:prstGeom prst="ellipse">
            <a:avLst/>
          </a:prstGeom>
          <a:solidFill>
            <a:srgbClr val="EE9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76E7AC70-7DE8-F563-13EE-ECB9343CE5F9}"/>
              </a:ext>
            </a:extLst>
          </p:cNvPr>
          <p:cNvSpPr/>
          <p:nvPr/>
        </p:nvSpPr>
        <p:spPr>
          <a:xfrm>
            <a:off x="379859" y="-655035"/>
            <a:ext cx="98178" cy="97268"/>
          </a:xfrm>
          <a:prstGeom prst="ellipse">
            <a:avLst/>
          </a:prstGeom>
          <a:solidFill>
            <a:srgbClr val="3F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8B8F4388-E87F-AB7A-4D16-5EE240F526FB}"/>
              </a:ext>
            </a:extLst>
          </p:cNvPr>
          <p:cNvSpPr/>
          <p:nvPr/>
        </p:nvSpPr>
        <p:spPr>
          <a:xfrm>
            <a:off x="7314894" y="505933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7E3B32B4-C20B-E996-B146-754FE6F47F8C}"/>
              </a:ext>
            </a:extLst>
          </p:cNvPr>
          <p:cNvSpPr/>
          <p:nvPr/>
        </p:nvSpPr>
        <p:spPr>
          <a:xfrm>
            <a:off x="8031934" y="352769"/>
            <a:ext cx="98178" cy="97268"/>
          </a:xfrm>
          <a:prstGeom prst="ellipse">
            <a:avLst/>
          </a:prstGeom>
          <a:solidFill>
            <a:srgbClr val="BDA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D29BAF13-FF1D-AB8F-BE17-949FD802D2B1}"/>
              </a:ext>
            </a:extLst>
          </p:cNvPr>
          <p:cNvSpPr txBox="1"/>
          <p:nvPr/>
        </p:nvSpPr>
        <p:spPr>
          <a:xfrm>
            <a:off x="7363983" y="4977167"/>
            <a:ext cx="10390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×26</a:t>
            </a:r>
            <a:r>
              <a:rPr lang="ja-JP" altLang="en-US" sz="1100" dirty="0"/>
              <a:t>（</a:t>
            </a:r>
            <a:r>
              <a:rPr lang="en-US" altLang="ja-JP" sz="1100" dirty="0"/>
              <a:t>20+6</a:t>
            </a:r>
            <a:r>
              <a:rPr lang="ja-JP" altLang="en-US" sz="1100" dirty="0"/>
              <a:t>）</a:t>
            </a:r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9BE1F4B3-15B9-7229-147A-B1E0CCAB8BF5}"/>
              </a:ext>
            </a:extLst>
          </p:cNvPr>
          <p:cNvSpPr/>
          <p:nvPr/>
        </p:nvSpPr>
        <p:spPr>
          <a:xfrm>
            <a:off x="4838646" y="343689"/>
            <a:ext cx="98178" cy="97268"/>
          </a:xfrm>
          <a:prstGeom prst="ellipse">
            <a:avLst/>
          </a:prstGeom>
          <a:solidFill>
            <a:srgbClr val="FE7A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F012A76E-223E-DEA7-40AA-F9599D31CE19}"/>
              </a:ext>
            </a:extLst>
          </p:cNvPr>
          <p:cNvSpPr txBox="1"/>
          <p:nvPr/>
        </p:nvSpPr>
        <p:spPr>
          <a:xfrm>
            <a:off x="-1874899" y="4642600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×1</a:t>
            </a:r>
            <a:endParaRPr lang="ja-JP" altLang="en-US" sz="1100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787C0854-5D0B-2F8D-213E-40B36BE52ECE}"/>
              </a:ext>
            </a:extLst>
          </p:cNvPr>
          <p:cNvSpPr txBox="1"/>
          <p:nvPr/>
        </p:nvSpPr>
        <p:spPr>
          <a:xfrm>
            <a:off x="5470655" y="4982709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×1</a:t>
            </a:r>
            <a:endParaRPr lang="ja-JP" altLang="en-US" sz="1100" dirty="0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44B7B33C-9FD0-6A1D-900B-D0AF77F905A3}"/>
              </a:ext>
            </a:extLst>
          </p:cNvPr>
          <p:cNvSpPr/>
          <p:nvPr/>
        </p:nvSpPr>
        <p:spPr>
          <a:xfrm>
            <a:off x="5398532" y="5062812"/>
            <a:ext cx="98178" cy="9726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97CEE3DF-2DC7-C258-CE39-9F4A28C3DADF}"/>
              </a:ext>
            </a:extLst>
          </p:cNvPr>
          <p:cNvSpPr/>
          <p:nvPr/>
        </p:nvSpPr>
        <p:spPr>
          <a:xfrm>
            <a:off x="13914460" y="5123113"/>
            <a:ext cx="98178" cy="972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C95FC56-D92E-40FD-57A5-AB5ADA1F2BC7}"/>
              </a:ext>
            </a:extLst>
          </p:cNvPr>
          <p:cNvSpPr txBox="1"/>
          <p:nvPr/>
        </p:nvSpPr>
        <p:spPr>
          <a:xfrm>
            <a:off x="13976073" y="5041339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</a:t>
            </a:r>
            <a:endParaRPr lang="ja-JP" altLang="en-US" sz="1100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D9BD1B44-BB33-F7A1-1CD1-A7EEB65C666D}"/>
              </a:ext>
            </a:extLst>
          </p:cNvPr>
          <p:cNvSpPr txBox="1"/>
          <p:nvPr/>
        </p:nvSpPr>
        <p:spPr>
          <a:xfrm>
            <a:off x="4956979" y="5167009"/>
            <a:ext cx="1471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DDL-4496YB</a:t>
            </a:r>
            <a:endParaRPr lang="ja-JP" altLang="en-US" sz="16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279C37E-E01A-42C3-59E2-FED11B867E65}"/>
              </a:ext>
            </a:extLst>
          </p:cNvPr>
          <p:cNvSpPr txBox="1"/>
          <p:nvPr/>
        </p:nvSpPr>
        <p:spPr>
          <a:xfrm>
            <a:off x="7099380" y="5185341"/>
            <a:ext cx="1366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DDL6102AW</a:t>
            </a:r>
            <a:endParaRPr lang="ja-JP" altLang="en-US" sz="1600" dirty="0"/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D3F7E548-4FF4-75FC-082F-69FE0687A379}"/>
              </a:ext>
            </a:extLst>
          </p:cNvPr>
          <p:cNvSpPr txBox="1"/>
          <p:nvPr/>
        </p:nvSpPr>
        <p:spPr>
          <a:xfrm>
            <a:off x="-2379127" y="4784066"/>
            <a:ext cx="16885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DPN-39817</a:t>
            </a:r>
            <a:r>
              <a:rPr lang="ja-JP" altLang="en-US" sz="1600" dirty="0"/>
              <a:t>　</a:t>
            </a:r>
            <a:r>
              <a:rPr lang="en-US" altLang="ja-JP" sz="1600" dirty="0"/>
              <a:t>GE</a:t>
            </a:r>
          </a:p>
          <a:p>
            <a:endParaRPr lang="ja-JP" altLang="en-US" sz="1600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B0AF052B-0C50-0B6B-39D0-2346B2C52B52}"/>
              </a:ext>
            </a:extLst>
          </p:cNvPr>
          <p:cNvSpPr txBox="1"/>
          <p:nvPr/>
        </p:nvSpPr>
        <p:spPr>
          <a:xfrm>
            <a:off x="13729573" y="5176471"/>
            <a:ext cx="1471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DCL40507</a:t>
            </a:r>
            <a:endParaRPr lang="ja-JP" altLang="en-US" sz="1600" dirty="0"/>
          </a:p>
        </p:txBody>
      </p:sp>
      <p:pic>
        <p:nvPicPr>
          <p:cNvPr id="80" name="図 79" descr="商品写真 | DAIKO 大光電機 ブラケット DBK-41544Y">
            <a:extLst>
              <a:ext uri="{FF2B5EF4-FFF2-40B4-BE49-F238E27FC236}">
                <a16:creationId xmlns:a16="http://schemas.microsoft.com/office/drawing/2014/main" id="{0EC168AC-9639-7725-2BF8-0EBED923B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639" y="5478860"/>
            <a:ext cx="1601842" cy="292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楕円 81">
            <a:extLst>
              <a:ext uri="{FF2B5EF4-FFF2-40B4-BE49-F238E27FC236}">
                <a16:creationId xmlns:a16="http://schemas.microsoft.com/office/drawing/2014/main" id="{FE5AE4D2-CDA2-0B25-D6BE-79DBAE695FDC}"/>
              </a:ext>
            </a:extLst>
          </p:cNvPr>
          <p:cNvSpPr/>
          <p:nvPr/>
        </p:nvSpPr>
        <p:spPr>
          <a:xfrm>
            <a:off x="16369411" y="5088073"/>
            <a:ext cx="98178" cy="97268"/>
          </a:xfrm>
          <a:prstGeom prst="ellipse">
            <a:avLst/>
          </a:prstGeom>
          <a:solidFill>
            <a:srgbClr val="EE9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8B5BFBCF-924F-878E-4A9E-5956D0636C1A}"/>
              </a:ext>
            </a:extLst>
          </p:cNvPr>
          <p:cNvSpPr txBox="1"/>
          <p:nvPr/>
        </p:nvSpPr>
        <p:spPr>
          <a:xfrm>
            <a:off x="16418500" y="5005902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×1</a:t>
            </a:r>
            <a:endParaRPr lang="ja-JP" altLang="en-US" sz="1100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F98AA568-B0AD-4B07-8F3E-826D3EBC59D8}"/>
              </a:ext>
            </a:extLst>
          </p:cNvPr>
          <p:cNvSpPr txBox="1"/>
          <p:nvPr/>
        </p:nvSpPr>
        <p:spPr>
          <a:xfrm>
            <a:off x="15889878" y="5168359"/>
            <a:ext cx="16265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DBK41544Y</a:t>
            </a:r>
            <a:endParaRPr lang="ja-JP" altLang="en-US" sz="1600" dirty="0"/>
          </a:p>
        </p:txBody>
      </p:sp>
      <p:pic>
        <p:nvPicPr>
          <p:cNvPr id="89" name="図 88" descr="大光電機 ベースダウンライト（屋内・屋外兼用） DDL6102AW 工事必要">
            <a:extLst>
              <a:ext uri="{FF2B5EF4-FFF2-40B4-BE49-F238E27FC236}">
                <a16:creationId xmlns:a16="http://schemas.microsoft.com/office/drawing/2014/main" id="{FE42F1BE-2979-6FCE-F1EA-FEE82DF011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90" r="23104"/>
          <a:stretch/>
        </p:blipFill>
        <p:spPr bwMode="auto">
          <a:xfrm>
            <a:off x="3325002" y="9867078"/>
            <a:ext cx="1544734" cy="287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図 89" descr="大光電機 ペンダント DPN41421Y 工事必要">
            <a:extLst>
              <a:ext uri="{FF2B5EF4-FFF2-40B4-BE49-F238E27FC236}">
                <a16:creationId xmlns:a16="http://schemas.microsoft.com/office/drawing/2014/main" id="{7A0BF601-7F52-9EFB-137A-E4AC0C70C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629" y="9754547"/>
            <a:ext cx="1601842" cy="2983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商品写真 | DAIKO 大光電機 調色シーリング DCL-40507">
            <a:extLst>
              <a:ext uri="{FF2B5EF4-FFF2-40B4-BE49-F238E27FC236}">
                <a16:creationId xmlns:a16="http://schemas.microsoft.com/office/drawing/2014/main" id="{24076CD4-6FCB-2C21-E389-4A14596DC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221" y="712647"/>
            <a:ext cx="1997357" cy="323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スマートデザインシリーズ 建築空間と調和を徹底的に追求。">
            <a:extLst>
              <a:ext uri="{FF2B5EF4-FFF2-40B4-BE49-F238E27FC236}">
                <a16:creationId xmlns:a16="http://schemas.microsoft.com/office/drawing/2014/main" id="{F1DA1EDC-5198-DF71-3B57-1FA94DBEF7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97" t="61563" r="24262" b="7366"/>
          <a:stretch/>
        </p:blipFill>
        <p:spPr bwMode="auto">
          <a:xfrm>
            <a:off x="3185813" y="8075666"/>
            <a:ext cx="772833" cy="77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BF8DA864-DC39-A69A-C3F6-E35CB0830F69}"/>
              </a:ext>
            </a:extLst>
          </p:cNvPr>
          <p:cNvSpPr/>
          <p:nvPr/>
        </p:nvSpPr>
        <p:spPr>
          <a:xfrm>
            <a:off x="13665194" y="2413354"/>
            <a:ext cx="2549620" cy="9941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5548DB8-B102-D9F6-EE02-6EBC77EEE6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06" t="-17675" r="-548" b="17675"/>
          <a:stretch/>
        </p:blipFill>
        <p:spPr bwMode="auto">
          <a:xfrm>
            <a:off x="13517516" y="-84988"/>
            <a:ext cx="1698927" cy="138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E2C04D62-212B-0E11-E4A2-57BC7B819413}"/>
              </a:ext>
            </a:extLst>
          </p:cNvPr>
          <p:cNvSpPr txBox="1"/>
          <p:nvPr/>
        </p:nvSpPr>
        <p:spPr>
          <a:xfrm>
            <a:off x="2491676" y="7695278"/>
            <a:ext cx="2167581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dirty="0"/>
              <a:t>外部：ｽﾏｰﾃﾞｻﾞｲﾝｼﾘｰｽﾞ</a:t>
            </a:r>
            <a:endParaRPr lang="en-US" altLang="ja-JP" sz="1540" dirty="0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658A8AB1-71D0-BD11-1990-C0C28003BAC4}"/>
              </a:ext>
            </a:extLst>
          </p:cNvPr>
          <p:cNvSpPr txBox="1"/>
          <p:nvPr/>
        </p:nvSpPr>
        <p:spPr>
          <a:xfrm>
            <a:off x="12817836" y="-145575"/>
            <a:ext cx="2838213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dirty="0"/>
              <a:t>内部：ｺｽﾓﾜｲﾄﾞ ｽｸｴｱ</a:t>
            </a:r>
            <a:r>
              <a:rPr lang="en-US" altLang="ja-JP" sz="1540" dirty="0"/>
              <a:t>(Panasonic)</a:t>
            </a:r>
          </a:p>
        </p:txBody>
      </p:sp>
      <p:pic>
        <p:nvPicPr>
          <p:cNvPr id="1032" name="Picture 8" descr="安心のメーカー保証 大光電機 ダウンライト DDL-6102YW COBタイプ LED≪即日発送対応可能 在庫確認必要≫ 実績20年の老舗">
            <a:extLst>
              <a:ext uri="{FF2B5EF4-FFF2-40B4-BE49-F238E27FC236}">
                <a16:creationId xmlns:a16="http://schemas.microsoft.com/office/drawing/2014/main" id="{9459506A-8BAD-250F-CE53-4B3A139E51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6" r="23542"/>
          <a:stretch/>
        </p:blipFill>
        <p:spPr bwMode="auto">
          <a:xfrm>
            <a:off x="8743179" y="5488572"/>
            <a:ext cx="1726082" cy="324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9D77A9A-0DA0-841A-CB28-42FCC8C307F0}"/>
              </a:ext>
            </a:extLst>
          </p:cNvPr>
          <p:cNvSpPr txBox="1"/>
          <p:nvPr/>
        </p:nvSpPr>
        <p:spPr>
          <a:xfrm>
            <a:off x="11757487" y="8714105"/>
            <a:ext cx="1626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/>
              <a:t>2024. 12.1</a:t>
            </a:r>
            <a:endParaRPr lang="ja-JP" altLang="en-US" sz="1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5F90D1-1731-4F2B-7E55-BEEDC4F2A0A8}"/>
              </a:ext>
            </a:extLst>
          </p:cNvPr>
          <p:cNvSpPr txBox="1"/>
          <p:nvPr/>
        </p:nvSpPr>
        <p:spPr>
          <a:xfrm>
            <a:off x="4999221" y="4690017"/>
            <a:ext cx="14716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ポーチ灯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A3F1E9F-884C-7CDC-222D-A33F2E415BF6}"/>
              </a:ext>
            </a:extLst>
          </p:cNvPr>
          <p:cNvSpPr txBox="1"/>
          <p:nvPr/>
        </p:nvSpPr>
        <p:spPr>
          <a:xfrm>
            <a:off x="6637050" y="4701655"/>
            <a:ext cx="16895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基本照明ﾀﾞｳﾝﾗｲﾄ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4E3451-1BD9-D9A2-425C-2D36D1FF4330}"/>
              </a:ext>
            </a:extLst>
          </p:cNvPr>
          <p:cNvSpPr txBox="1"/>
          <p:nvPr/>
        </p:nvSpPr>
        <p:spPr>
          <a:xfrm>
            <a:off x="-2425515" y="4350700"/>
            <a:ext cx="1688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ﾀﾞｲﾆﾝｸﾞﾍﾟﾝﾀﾞﾝﾄ灯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6220CB0-C533-6A95-7A0F-FDA82ED36D00}"/>
              </a:ext>
            </a:extLst>
          </p:cNvPr>
          <p:cNvSpPr txBox="1"/>
          <p:nvPr/>
        </p:nvSpPr>
        <p:spPr>
          <a:xfrm>
            <a:off x="13360868" y="4768783"/>
            <a:ext cx="1688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寝室、洋室①② 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5CF8A3-C1E5-AB20-51E4-B8A618228380}"/>
              </a:ext>
            </a:extLst>
          </p:cNvPr>
          <p:cNvSpPr txBox="1"/>
          <p:nvPr/>
        </p:nvSpPr>
        <p:spPr>
          <a:xfrm>
            <a:off x="16218999" y="4697938"/>
            <a:ext cx="16885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階段灯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FFD3ECD6-95E5-9AD8-7467-CA75C309E4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33" b="12429"/>
          <a:stretch/>
        </p:blipFill>
        <p:spPr bwMode="auto">
          <a:xfrm>
            <a:off x="261914" y="7380719"/>
            <a:ext cx="1952837" cy="141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4E7BF0F-7EA2-BDE6-EE7B-81DDE8A82136}"/>
              </a:ext>
            </a:extLst>
          </p:cNvPr>
          <p:cNvSpPr txBox="1"/>
          <p:nvPr/>
        </p:nvSpPr>
        <p:spPr>
          <a:xfrm>
            <a:off x="213004" y="7149313"/>
            <a:ext cx="2494381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540" dirty="0"/>
              <a:t>ﾄﾞｱﾎﾝ：</a:t>
            </a:r>
            <a:r>
              <a:rPr lang="en-US" altLang="ja-JP" sz="1540" dirty="0"/>
              <a:t>VL-SZ30KL</a:t>
            </a:r>
          </a:p>
          <a:p>
            <a:r>
              <a:rPr lang="en-US" altLang="ja-JP" sz="1540" dirty="0"/>
              <a:t>(Panasonic)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5319A21-57BC-9A5E-A9A8-C16E0D960B93}"/>
              </a:ext>
            </a:extLst>
          </p:cNvPr>
          <p:cNvSpPr/>
          <p:nvPr/>
        </p:nvSpPr>
        <p:spPr>
          <a:xfrm>
            <a:off x="13766330" y="3594236"/>
            <a:ext cx="877578" cy="9639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10D3E445-3687-D9ED-2035-C73EA5259DC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7470" y="5117496"/>
            <a:ext cx="1526788" cy="3449912"/>
          </a:xfrm>
          <a:prstGeom prst="rect">
            <a:avLst/>
          </a:prstGeom>
        </p:spPr>
      </p:pic>
      <p:sp>
        <p:nvSpPr>
          <p:cNvPr id="84" name="楕円 83">
            <a:extLst>
              <a:ext uri="{FF2B5EF4-FFF2-40B4-BE49-F238E27FC236}">
                <a16:creationId xmlns:a16="http://schemas.microsoft.com/office/drawing/2014/main" id="{767988DC-9AFE-FA62-71DB-F32965BDEBD5}"/>
              </a:ext>
            </a:extLst>
          </p:cNvPr>
          <p:cNvSpPr/>
          <p:nvPr/>
        </p:nvSpPr>
        <p:spPr>
          <a:xfrm>
            <a:off x="3287974" y="3644075"/>
            <a:ext cx="98178" cy="9726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86" name="楕円 85">
            <a:extLst>
              <a:ext uri="{FF2B5EF4-FFF2-40B4-BE49-F238E27FC236}">
                <a16:creationId xmlns:a16="http://schemas.microsoft.com/office/drawing/2014/main" id="{4BE65328-CCF1-6B41-3578-D7EDD03ACD69}"/>
              </a:ext>
            </a:extLst>
          </p:cNvPr>
          <p:cNvSpPr/>
          <p:nvPr/>
        </p:nvSpPr>
        <p:spPr>
          <a:xfrm>
            <a:off x="3126296" y="5674567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87" name="楕円 86">
            <a:extLst>
              <a:ext uri="{FF2B5EF4-FFF2-40B4-BE49-F238E27FC236}">
                <a16:creationId xmlns:a16="http://schemas.microsoft.com/office/drawing/2014/main" id="{B1544EE7-D209-9D73-3696-08A5D1E5DFCC}"/>
              </a:ext>
            </a:extLst>
          </p:cNvPr>
          <p:cNvSpPr/>
          <p:nvPr/>
        </p:nvSpPr>
        <p:spPr>
          <a:xfrm>
            <a:off x="3123576" y="5836189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95" name="楕円 94">
            <a:extLst>
              <a:ext uri="{FF2B5EF4-FFF2-40B4-BE49-F238E27FC236}">
                <a16:creationId xmlns:a16="http://schemas.microsoft.com/office/drawing/2014/main" id="{1E03FF7A-1D3A-95E6-F9DF-9E5552F4A913}"/>
              </a:ext>
            </a:extLst>
          </p:cNvPr>
          <p:cNvSpPr/>
          <p:nvPr/>
        </p:nvSpPr>
        <p:spPr>
          <a:xfrm>
            <a:off x="3126296" y="5999323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2EDCA6F9-2AD7-143C-9C30-2810BE55B5A4}"/>
              </a:ext>
            </a:extLst>
          </p:cNvPr>
          <p:cNvSpPr/>
          <p:nvPr/>
        </p:nvSpPr>
        <p:spPr>
          <a:xfrm>
            <a:off x="858482" y="5675262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99" name="楕円 98">
            <a:extLst>
              <a:ext uri="{FF2B5EF4-FFF2-40B4-BE49-F238E27FC236}">
                <a16:creationId xmlns:a16="http://schemas.microsoft.com/office/drawing/2014/main" id="{92056159-0ACD-D3DF-C203-CF8A740E40CF}"/>
              </a:ext>
            </a:extLst>
          </p:cNvPr>
          <p:cNvSpPr/>
          <p:nvPr/>
        </p:nvSpPr>
        <p:spPr>
          <a:xfrm>
            <a:off x="860871" y="6081114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753AE6B7-DBC5-D5ED-DE3C-DDE33BF6FB45}"/>
              </a:ext>
            </a:extLst>
          </p:cNvPr>
          <p:cNvSpPr/>
          <p:nvPr/>
        </p:nvSpPr>
        <p:spPr>
          <a:xfrm>
            <a:off x="3122259" y="4838244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94D2F107-75CF-E484-DED9-41E7935FC112}"/>
              </a:ext>
            </a:extLst>
          </p:cNvPr>
          <p:cNvSpPr/>
          <p:nvPr/>
        </p:nvSpPr>
        <p:spPr>
          <a:xfrm>
            <a:off x="2241055" y="499563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FC5F73AA-D14B-4DE3-8339-2DB2E12DC6F5}"/>
              </a:ext>
            </a:extLst>
          </p:cNvPr>
          <p:cNvSpPr/>
          <p:nvPr/>
        </p:nvSpPr>
        <p:spPr>
          <a:xfrm>
            <a:off x="2615525" y="4994882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0C7CAE70-BDE8-A5B3-81B1-45191B642892}"/>
              </a:ext>
            </a:extLst>
          </p:cNvPr>
          <p:cNvSpPr/>
          <p:nvPr/>
        </p:nvSpPr>
        <p:spPr>
          <a:xfrm>
            <a:off x="1989507" y="449777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6E08691A-9D05-3F09-6841-66B7D4111804}"/>
              </a:ext>
            </a:extLst>
          </p:cNvPr>
          <p:cNvSpPr/>
          <p:nvPr/>
        </p:nvSpPr>
        <p:spPr>
          <a:xfrm>
            <a:off x="3405194" y="4838251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9005908B-7EE9-BDEC-A906-931DF0510FEB}"/>
              </a:ext>
            </a:extLst>
          </p:cNvPr>
          <p:cNvSpPr/>
          <p:nvPr/>
        </p:nvSpPr>
        <p:spPr>
          <a:xfrm>
            <a:off x="1992515" y="4179641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4CFEC66E-2429-49EF-D63B-D2F570F07B2A}"/>
              </a:ext>
            </a:extLst>
          </p:cNvPr>
          <p:cNvSpPr/>
          <p:nvPr/>
        </p:nvSpPr>
        <p:spPr>
          <a:xfrm>
            <a:off x="3403488" y="5154167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B6A4A6C5-9FDB-805E-E5E7-6D3E0BA7A8A3}"/>
              </a:ext>
            </a:extLst>
          </p:cNvPr>
          <p:cNvSpPr/>
          <p:nvPr/>
        </p:nvSpPr>
        <p:spPr>
          <a:xfrm>
            <a:off x="3121388" y="5158903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66F6E929-7418-C13A-B701-F64BD75DD1F0}"/>
              </a:ext>
            </a:extLst>
          </p:cNvPr>
          <p:cNvSpPr/>
          <p:nvPr/>
        </p:nvSpPr>
        <p:spPr>
          <a:xfrm>
            <a:off x="3397944" y="4180444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13" name="楕円 112">
            <a:extLst>
              <a:ext uri="{FF2B5EF4-FFF2-40B4-BE49-F238E27FC236}">
                <a16:creationId xmlns:a16="http://schemas.microsoft.com/office/drawing/2014/main" id="{0BA9F92E-9F2B-4DAB-541D-99EB2BAD7A6B}"/>
              </a:ext>
            </a:extLst>
          </p:cNvPr>
          <p:cNvSpPr/>
          <p:nvPr/>
        </p:nvSpPr>
        <p:spPr>
          <a:xfrm>
            <a:off x="3129022" y="4178735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16" name="楕円 115">
            <a:extLst>
              <a:ext uri="{FF2B5EF4-FFF2-40B4-BE49-F238E27FC236}">
                <a16:creationId xmlns:a16="http://schemas.microsoft.com/office/drawing/2014/main" id="{699EB90D-93C0-0D31-AAA1-B57D914BDF83}"/>
              </a:ext>
            </a:extLst>
          </p:cNvPr>
          <p:cNvSpPr/>
          <p:nvPr/>
        </p:nvSpPr>
        <p:spPr>
          <a:xfrm>
            <a:off x="891693" y="3531584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17" name="楕円 116">
            <a:extLst>
              <a:ext uri="{FF2B5EF4-FFF2-40B4-BE49-F238E27FC236}">
                <a16:creationId xmlns:a16="http://schemas.microsoft.com/office/drawing/2014/main" id="{66D6DCF5-8B9F-7E68-A343-968013748B74}"/>
              </a:ext>
            </a:extLst>
          </p:cNvPr>
          <p:cNvSpPr/>
          <p:nvPr/>
        </p:nvSpPr>
        <p:spPr>
          <a:xfrm>
            <a:off x="759547" y="418005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19" name="楕円 118">
            <a:extLst>
              <a:ext uri="{FF2B5EF4-FFF2-40B4-BE49-F238E27FC236}">
                <a16:creationId xmlns:a16="http://schemas.microsoft.com/office/drawing/2014/main" id="{12FEFCF6-242C-7EB0-EE0C-58BFA7DEB1D2}"/>
              </a:ext>
            </a:extLst>
          </p:cNvPr>
          <p:cNvSpPr/>
          <p:nvPr/>
        </p:nvSpPr>
        <p:spPr>
          <a:xfrm>
            <a:off x="891220" y="3849855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20" name="楕円 119">
            <a:extLst>
              <a:ext uri="{FF2B5EF4-FFF2-40B4-BE49-F238E27FC236}">
                <a16:creationId xmlns:a16="http://schemas.microsoft.com/office/drawing/2014/main" id="{165A85F1-6BCD-0F47-A7A7-CC5185EA430D}"/>
              </a:ext>
            </a:extLst>
          </p:cNvPr>
          <p:cNvSpPr/>
          <p:nvPr/>
        </p:nvSpPr>
        <p:spPr>
          <a:xfrm>
            <a:off x="1656917" y="369495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21" name="楕円 120">
            <a:extLst>
              <a:ext uri="{FF2B5EF4-FFF2-40B4-BE49-F238E27FC236}">
                <a16:creationId xmlns:a16="http://schemas.microsoft.com/office/drawing/2014/main" id="{4940EB3F-01AA-13EB-2779-36D4C485637E}"/>
              </a:ext>
            </a:extLst>
          </p:cNvPr>
          <p:cNvSpPr/>
          <p:nvPr/>
        </p:nvSpPr>
        <p:spPr>
          <a:xfrm>
            <a:off x="2149743" y="472025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23" name="楕円 122">
            <a:extLst>
              <a:ext uri="{FF2B5EF4-FFF2-40B4-BE49-F238E27FC236}">
                <a16:creationId xmlns:a16="http://schemas.microsoft.com/office/drawing/2014/main" id="{C9DE4B98-75BF-9BF4-2708-08413649F59F}"/>
              </a:ext>
            </a:extLst>
          </p:cNvPr>
          <p:cNvSpPr/>
          <p:nvPr/>
        </p:nvSpPr>
        <p:spPr>
          <a:xfrm>
            <a:off x="1819567" y="1143477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25" name="楕円 124">
            <a:extLst>
              <a:ext uri="{FF2B5EF4-FFF2-40B4-BE49-F238E27FC236}">
                <a16:creationId xmlns:a16="http://schemas.microsoft.com/office/drawing/2014/main" id="{5F2F134E-E32B-0C2E-55ED-18B3842ABAC5}"/>
              </a:ext>
            </a:extLst>
          </p:cNvPr>
          <p:cNvSpPr/>
          <p:nvPr/>
        </p:nvSpPr>
        <p:spPr>
          <a:xfrm>
            <a:off x="2556396" y="712648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26" name="楕円 125">
            <a:extLst>
              <a:ext uri="{FF2B5EF4-FFF2-40B4-BE49-F238E27FC236}">
                <a16:creationId xmlns:a16="http://schemas.microsoft.com/office/drawing/2014/main" id="{D65E446C-B049-2F5D-31F3-263A77AD955F}"/>
              </a:ext>
            </a:extLst>
          </p:cNvPr>
          <p:cNvSpPr/>
          <p:nvPr/>
        </p:nvSpPr>
        <p:spPr>
          <a:xfrm>
            <a:off x="2483709" y="1137150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34" name="楕円 1033">
            <a:extLst>
              <a:ext uri="{FF2B5EF4-FFF2-40B4-BE49-F238E27FC236}">
                <a16:creationId xmlns:a16="http://schemas.microsoft.com/office/drawing/2014/main" id="{40E8CE14-1200-362E-7510-59AC731EBD7C}"/>
              </a:ext>
            </a:extLst>
          </p:cNvPr>
          <p:cNvSpPr/>
          <p:nvPr/>
        </p:nvSpPr>
        <p:spPr>
          <a:xfrm>
            <a:off x="1819567" y="817487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37" name="乗算記号 1036">
            <a:extLst>
              <a:ext uri="{FF2B5EF4-FFF2-40B4-BE49-F238E27FC236}">
                <a16:creationId xmlns:a16="http://schemas.microsoft.com/office/drawing/2014/main" id="{97CB17A2-6C85-ED04-4097-52E5E23DF139}"/>
              </a:ext>
            </a:extLst>
          </p:cNvPr>
          <p:cNvSpPr/>
          <p:nvPr/>
        </p:nvSpPr>
        <p:spPr>
          <a:xfrm>
            <a:off x="12898513" y="-338513"/>
            <a:ext cx="3018486" cy="3407525"/>
          </a:xfrm>
          <a:prstGeom prst="mathMultiply">
            <a:avLst>
              <a:gd name="adj1" fmla="val 167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3AAAAD0-0032-0EBC-EA5D-D244C3E08CD9}"/>
              </a:ext>
            </a:extLst>
          </p:cNvPr>
          <p:cNvSpPr/>
          <p:nvPr/>
        </p:nvSpPr>
        <p:spPr>
          <a:xfrm>
            <a:off x="1344155" y="476036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pic>
        <p:nvPicPr>
          <p:cNvPr id="7" name="Picture 20" descr="http://news.panasonic.com/jp/press/data/2014/05/jn140512-1/jn140512-1-17.jpg">
            <a:extLst>
              <a:ext uri="{FF2B5EF4-FFF2-40B4-BE49-F238E27FC236}">
                <a16:creationId xmlns:a16="http://schemas.microsoft.com/office/drawing/2014/main" id="{0F31896E-78FD-048B-B065-59FC3FB87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6540" y="3324343"/>
            <a:ext cx="742047" cy="125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2" descr="http://news.panasonic.com/jp/press/data/2014/05/jn140512-1/jn140512-1-11.jpg">
            <a:extLst>
              <a:ext uri="{FF2B5EF4-FFF2-40B4-BE49-F238E27FC236}">
                <a16:creationId xmlns:a16="http://schemas.microsoft.com/office/drawing/2014/main" id="{FA63DD42-3384-BC42-CC32-1B73FDC32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846" y="3305817"/>
            <a:ext cx="746838" cy="1282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A45619D-E3F7-BDA6-67A4-98EE8BFFCE30}"/>
              </a:ext>
            </a:extLst>
          </p:cNvPr>
          <p:cNvSpPr txBox="1"/>
          <p:nvPr/>
        </p:nvSpPr>
        <p:spPr>
          <a:xfrm>
            <a:off x="8747196" y="2942173"/>
            <a:ext cx="2028248" cy="32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540" dirty="0"/>
              <a:t>内部</a:t>
            </a:r>
            <a:r>
              <a:rPr lang="en-US" altLang="ja-JP" sz="1540" dirty="0"/>
              <a:t>SW</a:t>
            </a:r>
            <a:r>
              <a:rPr lang="ja-JP" altLang="en-US" sz="1540" dirty="0"/>
              <a:t>：アドバンス</a:t>
            </a:r>
            <a:endParaRPr lang="en-US" altLang="ja-JP" sz="1540" dirty="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C233EBD2-EDAB-D19C-F4EF-5E94A7B2A4D1}"/>
              </a:ext>
            </a:extLst>
          </p:cNvPr>
          <p:cNvSpPr/>
          <p:nvPr/>
        </p:nvSpPr>
        <p:spPr>
          <a:xfrm>
            <a:off x="1529961" y="5149503"/>
            <a:ext cx="98178" cy="9726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pic>
        <p:nvPicPr>
          <p:cNvPr id="30" name="Picture 2" descr="DAIKO 大光電機 人感センサー付ダウンライト DDL-4496YB | 商品 ...">
            <a:extLst>
              <a:ext uri="{FF2B5EF4-FFF2-40B4-BE49-F238E27FC236}">
                <a16:creationId xmlns:a16="http://schemas.microsoft.com/office/drawing/2014/main" id="{3CBC7F4C-FBBF-4137-AE8E-633C0213C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074" y="5422344"/>
            <a:ext cx="1560849" cy="347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人感センサー付ダウンライト">
            <a:extLst>
              <a:ext uri="{FF2B5EF4-FFF2-40B4-BE49-F238E27FC236}">
                <a16:creationId xmlns:a16="http://schemas.microsoft.com/office/drawing/2014/main" id="{54B28CD1-3F0A-D3D8-E4DA-FEDDFB858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870" y="8461724"/>
            <a:ext cx="1528920" cy="339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41A6E0FA-C1F5-DDCF-A390-888558C2A634}"/>
              </a:ext>
            </a:extLst>
          </p:cNvPr>
          <p:cNvSpPr txBox="1"/>
          <p:nvPr/>
        </p:nvSpPr>
        <p:spPr>
          <a:xfrm>
            <a:off x="4703838" y="372899"/>
            <a:ext cx="17669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0" i="0" dirty="0">
                <a:solidFill>
                  <a:srgbClr val="333333"/>
                </a:solidFill>
                <a:effectLst/>
              </a:rPr>
              <a:t>DSY-4393 AWG</a:t>
            </a:r>
            <a:endParaRPr lang="ja-JP" altLang="en-US" sz="1600" dirty="0"/>
          </a:p>
        </p:txBody>
      </p:sp>
      <p:pic>
        <p:nvPicPr>
          <p:cNvPr id="48" name="Picture 6" descr="商品写真 | DAIKO 大光電機 間接照明用器具 DSY-4637ATGE">
            <a:extLst>
              <a:ext uri="{FF2B5EF4-FFF2-40B4-BE49-F238E27FC236}">
                <a16:creationId xmlns:a16="http://schemas.microsoft.com/office/drawing/2014/main" id="{921C19AB-CF97-A2B4-5968-E349A3D88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069" y="-3548085"/>
            <a:ext cx="2109209" cy="329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DDL-6102AW ダウンライト(軒下兼用) 準耐火構造対応タイプ (φ100・白熱灯60W相当) LED 4.6W  温白色 大光電機 (DDS) 照明器具 | 大光電機">
            <a:extLst>
              <a:ext uri="{FF2B5EF4-FFF2-40B4-BE49-F238E27FC236}">
                <a16:creationId xmlns:a16="http://schemas.microsoft.com/office/drawing/2014/main" id="{BEA23F41-2898-0B21-EC06-D74C8086E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16" r="22699"/>
          <a:stretch/>
        </p:blipFill>
        <p:spPr bwMode="auto">
          <a:xfrm>
            <a:off x="6816000" y="5491271"/>
            <a:ext cx="1789466" cy="327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A6DB0181-0EE6-1CF6-485D-11F7A729F6B6}"/>
              </a:ext>
            </a:extLst>
          </p:cNvPr>
          <p:cNvSpPr txBox="1"/>
          <p:nvPr/>
        </p:nvSpPr>
        <p:spPr>
          <a:xfrm>
            <a:off x="9086791" y="5176471"/>
            <a:ext cx="1366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DDL6102YW</a:t>
            </a:r>
            <a:endParaRPr lang="ja-JP" altLang="en-US" sz="16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49C358D-100E-C67E-0D37-B28E14DDE065}"/>
              </a:ext>
            </a:extLst>
          </p:cNvPr>
          <p:cNvSpPr txBox="1"/>
          <p:nvPr/>
        </p:nvSpPr>
        <p:spPr>
          <a:xfrm>
            <a:off x="9006819" y="4997353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×2</a:t>
            </a:r>
            <a:endParaRPr lang="ja-JP" altLang="en-US" sz="1100" dirty="0"/>
          </a:p>
        </p:txBody>
      </p:sp>
      <p:pic>
        <p:nvPicPr>
          <p:cNvPr id="52" name="Picture 10" descr="大光電機 ベースダウンライト（屋内・屋外兼用） DDL6002AWG 工事必要">
            <a:extLst>
              <a:ext uri="{FF2B5EF4-FFF2-40B4-BE49-F238E27FC236}">
                <a16:creationId xmlns:a16="http://schemas.microsoft.com/office/drawing/2014/main" id="{9E052E6B-E2F9-6AB3-F540-DFA6841DD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186" y="5488572"/>
            <a:ext cx="1682128" cy="323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9FC539B-1775-8229-17DB-6B1BB9CA391A}"/>
              </a:ext>
            </a:extLst>
          </p:cNvPr>
          <p:cNvSpPr txBox="1"/>
          <p:nvPr/>
        </p:nvSpPr>
        <p:spPr>
          <a:xfrm>
            <a:off x="11043129" y="5161289"/>
            <a:ext cx="1366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DDL6002AWG</a:t>
            </a:r>
            <a:endParaRPr lang="ja-JP" altLang="en-US" sz="1600" dirty="0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DD6974B4-4CF7-70F9-26D0-197E164D37CA}"/>
              </a:ext>
            </a:extLst>
          </p:cNvPr>
          <p:cNvSpPr txBox="1"/>
          <p:nvPr/>
        </p:nvSpPr>
        <p:spPr>
          <a:xfrm>
            <a:off x="11314274" y="4945648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×4</a:t>
            </a:r>
            <a:endParaRPr lang="ja-JP" altLang="en-US" sz="1100" dirty="0"/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C63B9CE8-5B5E-10D5-1001-2625CB868B85}"/>
              </a:ext>
            </a:extLst>
          </p:cNvPr>
          <p:cNvSpPr/>
          <p:nvPr/>
        </p:nvSpPr>
        <p:spPr>
          <a:xfrm>
            <a:off x="1755170" y="5792535"/>
            <a:ext cx="98178" cy="972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6264272C-5128-1EDB-CF31-1CAA457E7071}"/>
              </a:ext>
            </a:extLst>
          </p:cNvPr>
          <p:cNvSpPr/>
          <p:nvPr/>
        </p:nvSpPr>
        <p:spPr>
          <a:xfrm>
            <a:off x="1763755" y="5474243"/>
            <a:ext cx="98178" cy="972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682E05B2-A440-C715-C77E-AF2A08A0DF06}"/>
              </a:ext>
            </a:extLst>
          </p:cNvPr>
          <p:cNvSpPr/>
          <p:nvPr/>
        </p:nvSpPr>
        <p:spPr>
          <a:xfrm>
            <a:off x="1902035" y="5799327"/>
            <a:ext cx="98178" cy="972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21FE523A-228A-8E86-32C5-4AE13190F6F0}"/>
              </a:ext>
            </a:extLst>
          </p:cNvPr>
          <p:cNvSpPr/>
          <p:nvPr/>
        </p:nvSpPr>
        <p:spPr>
          <a:xfrm>
            <a:off x="1890267" y="5467142"/>
            <a:ext cx="98178" cy="9726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610089EA-EE25-51BF-058C-A2989EDB72FF}"/>
              </a:ext>
            </a:extLst>
          </p:cNvPr>
          <p:cNvSpPr/>
          <p:nvPr/>
        </p:nvSpPr>
        <p:spPr>
          <a:xfrm>
            <a:off x="2157853" y="3701514"/>
            <a:ext cx="98178" cy="9726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51C86364-81B0-F277-E30E-D5A7D85E5077}"/>
              </a:ext>
            </a:extLst>
          </p:cNvPr>
          <p:cNvSpPr/>
          <p:nvPr/>
        </p:nvSpPr>
        <p:spPr>
          <a:xfrm>
            <a:off x="2475484" y="3703059"/>
            <a:ext cx="98178" cy="9726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68" name="楕円 67">
            <a:extLst>
              <a:ext uri="{FF2B5EF4-FFF2-40B4-BE49-F238E27FC236}">
                <a16:creationId xmlns:a16="http://schemas.microsoft.com/office/drawing/2014/main" id="{E3B6D90B-0AF6-F562-4449-5082F5A772E6}"/>
              </a:ext>
            </a:extLst>
          </p:cNvPr>
          <p:cNvSpPr/>
          <p:nvPr/>
        </p:nvSpPr>
        <p:spPr>
          <a:xfrm>
            <a:off x="6470833" y="-1203646"/>
            <a:ext cx="98178" cy="9726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78DDDA72-45D0-6DC7-A731-31077883B6BA}"/>
              </a:ext>
            </a:extLst>
          </p:cNvPr>
          <p:cNvSpPr txBox="1"/>
          <p:nvPr/>
        </p:nvSpPr>
        <p:spPr>
          <a:xfrm>
            <a:off x="4964520" y="255629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×2</a:t>
            </a:r>
            <a:endParaRPr lang="ja-JP" altLang="en-US" sz="1100" dirty="0"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6D0F0B3D-799B-2B8C-6B5D-47CC380CDA2C}"/>
              </a:ext>
            </a:extLst>
          </p:cNvPr>
          <p:cNvSpPr txBox="1"/>
          <p:nvPr/>
        </p:nvSpPr>
        <p:spPr>
          <a:xfrm>
            <a:off x="7032567" y="-1273543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×1</a:t>
            </a:r>
            <a:endParaRPr lang="ja-JP" altLang="en-US" sz="1100" dirty="0"/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84EDF8EA-690F-FEDC-51F8-1A5E92E524F7}"/>
              </a:ext>
            </a:extLst>
          </p:cNvPr>
          <p:cNvSpPr/>
          <p:nvPr/>
        </p:nvSpPr>
        <p:spPr>
          <a:xfrm>
            <a:off x="1240359" y="5117355"/>
            <a:ext cx="57250" cy="305187"/>
          </a:xfrm>
          <a:prstGeom prst="ellipse">
            <a:avLst/>
          </a:prstGeom>
          <a:solidFill>
            <a:srgbClr val="FE7A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52C685C-32A1-3EFC-902A-CDF40EC1779A}"/>
              </a:ext>
            </a:extLst>
          </p:cNvPr>
          <p:cNvSpPr txBox="1"/>
          <p:nvPr/>
        </p:nvSpPr>
        <p:spPr>
          <a:xfrm>
            <a:off x="3897352" y="-3397467"/>
            <a:ext cx="43586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0" i="0" dirty="0">
                <a:solidFill>
                  <a:srgbClr val="333333"/>
                </a:solidFill>
                <a:effectLst/>
              </a:rPr>
              <a:t>DSY-4636ATGE</a:t>
            </a:r>
            <a:r>
              <a:rPr lang="ja-JP" altLang="en-US" sz="1600" b="0" i="0" dirty="0">
                <a:solidFill>
                  <a:srgbClr val="333333"/>
                </a:solidFill>
                <a:effectLst/>
              </a:rPr>
              <a:t>（</a:t>
            </a:r>
            <a:r>
              <a:rPr lang="en-US" altLang="ja-JP" sz="1600" b="0" i="0" dirty="0">
                <a:solidFill>
                  <a:srgbClr val="333333"/>
                </a:solidFill>
                <a:effectLst/>
              </a:rPr>
              <a:t>900</a:t>
            </a:r>
            <a:r>
              <a:rPr lang="ja-JP" altLang="en-US" sz="1600" b="0" i="0" dirty="0">
                <a:solidFill>
                  <a:srgbClr val="333333"/>
                </a:solidFill>
                <a:effectLst/>
              </a:rPr>
              <a:t>）</a:t>
            </a:r>
            <a:endParaRPr lang="ja-JP" altLang="en-US" sz="1600" dirty="0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67933357-7B81-6945-9447-56B591A0B316}"/>
              </a:ext>
            </a:extLst>
          </p:cNvPr>
          <p:cNvSpPr/>
          <p:nvPr/>
        </p:nvSpPr>
        <p:spPr>
          <a:xfrm>
            <a:off x="1254079" y="5556928"/>
            <a:ext cx="57250" cy="305187"/>
          </a:xfrm>
          <a:prstGeom prst="ellipse">
            <a:avLst/>
          </a:prstGeom>
          <a:solidFill>
            <a:srgbClr val="FE7A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EFB7DF48-BAEE-FD4F-2898-53BDB7E4743A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7293" t="6235" r="60848" b="54592"/>
          <a:stretch/>
        </p:blipFill>
        <p:spPr>
          <a:xfrm rot="10800000">
            <a:off x="-638576" y="-1406196"/>
            <a:ext cx="1575161" cy="1079807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263EAC6-FEF5-6B4A-EABA-84AAFFDFBC21}"/>
              </a:ext>
            </a:extLst>
          </p:cNvPr>
          <p:cNvSpPr txBox="1"/>
          <p:nvPr/>
        </p:nvSpPr>
        <p:spPr>
          <a:xfrm>
            <a:off x="7607421" y="459219"/>
            <a:ext cx="13998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0" i="0" dirty="0">
                <a:solidFill>
                  <a:srgbClr val="333333"/>
                </a:solidFill>
                <a:effectLst/>
              </a:rPr>
              <a:t>WTA1811WK</a:t>
            </a:r>
            <a:endParaRPr lang="ja-JP" altLang="en-US" sz="16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A2CC226-DA37-BCDE-8370-352AE12DB106}"/>
              </a:ext>
            </a:extLst>
          </p:cNvPr>
          <p:cNvSpPr txBox="1"/>
          <p:nvPr/>
        </p:nvSpPr>
        <p:spPr>
          <a:xfrm>
            <a:off x="8113358" y="251170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×1</a:t>
            </a:r>
            <a:endParaRPr lang="ja-JP" altLang="en-US" sz="1100" dirty="0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A542556D-0D95-73BF-76ED-C2FBE8810FE0}"/>
              </a:ext>
            </a:extLst>
          </p:cNvPr>
          <p:cNvSpPr/>
          <p:nvPr/>
        </p:nvSpPr>
        <p:spPr>
          <a:xfrm>
            <a:off x="2448783" y="898879"/>
            <a:ext cx="98178" cy="97268"/>
          </a:xfrm>
          <a:prstGeom prst="ellipse">
            <a:avLst/>
          </a:prstGeom>
          <a:solidFill>
            <a:srgbClr val="BDA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4A55A52E-04DD-810F-D8D2-2905B3A391D1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t="4114"/>
          <a:stretch/>
        </p:blipFill>
        <p:spPr>
          <a:xfrm>
            <a:off x="7728239" y="738163"/>
            <a:ext cx="1111203" cy="1792620"/>
          </a:xfrm>
          <a:prstGeom prst="rect">
            <a:avLst/>
          </a:prstGeom>
        </p:spPr>
      </p:pic>
      <p:pic>
        <p:nvPicPr>
          <p:cNvPr id="44" name="Picture 4" descr="【LED調光スイッチ】【アドバンスシリーズ】【LED】【埋込逆位相調光スイッチC】【プレート別売(WTA7101WK)】マットホワイトWTA57583WK">
            <a:extLst>
              <a:ext uri="{FF2B5EF4-FFF2-40B4-BE49-F238E27FC236}">
                <a16:creationId xmlns:a16="http://schemas.microsoft.com/office/drawing/2014/main" id="{E41E3AA0-5540-2BB7-C62A-654655280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775" y="691460"/>
            <a:ext cx="972074" cy="1982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08612E0-AF9B-EC21-22B3-8F74AEDE3FED}"/>
              </a:ext>
            </a:extLst>
          </p:cNvPr>
          <p:cNvSpPr txBox="1"/>
          <p:nvPr/>
        </p:nvSpPr>
        <p:spPr>
          <a:xfrm>
            <a:off x="9453161" y="247237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×2</a:t>
            </a:r>
            <a:endParaRPr lang="ja-JP" altLang="en-US" sz="11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5473D481-65BC-4A16-EF53-0B1787F4131B}"/>
              </a:ext>
            </a:extLst>
          </p:cNvPr>
          <p:cNvSpPr txBox="1"/>
          <p:nvPr/>
        </p:nvSpPr>
        <p:spPr>
          <a:xfrm>
            <a:off x="9001357" y="400016"/>
            <a:ext cx="2098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0" i="0" dirty="0">
                <a:solidFill>
                  <a:srgbClr val="333333"/>
                </a:solidFill>
                <a:effectLst/>
              </a:rPr>
              <a:t>WTA57583WK</a:t>
            </a:r>
            <a:endParaRPr lang="ja-JP" altLang="en-US" sz="1600" dirty="0"/>
          </a:p>
        </p:txBody>
      </p:sp>
      <p:sp>
        <p:nvSpPr>
          <p:cNvPr id="88" name="楕円 87">
            <a:extLst>
              <a:ext uri="{FF2B5EF4-FFF2-40B4-BE49-F238E27FC236}">
                <a16:creationId xmlns:a16="http://schemas.microsoft.com/office/drawing/2014/main" id="{9ADE5A48-0934-BEA2-436A-7BBC709B928C}"/>
              </a:ext>
            </a:extLst>
          </p:cNvPr>
          <p:cNvSpPr/>
          <p:nvPr/>
        </p:nvSpPr>
        <p:spPr>
          <a:xfrm>
            <a:off x="2286167" y="4755431"/>
            <a:ext cx="98178" cy="97268"/>
          </a:xfrm>
          <a:prstGeom prst="ellipse">
            <a:avLst/>
          </a:prstGeom>
          <a:solidFill>
            <a:srgbClr val="EE9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0FA091E2-D486-3406-C85F-1F525F73005E}"/>
              </a:ext>
            </a:extLst>
          </p:cNvPr>
          <p:cNvSpPr/>
          <p:nvPr/>
        </p:nvSpPr>
        <p:spPr>
          <a:xfrm>
            <a:off x="2233329" y="4843928"/>
            <a:ext cx="98178" cy="97268"/>
          </a:xfrm>
          <a:prstGeom prst="ellipse">
            <a:avLst/>
          </a:prstGeom>
          <a:solidFill>
            <a:srgbClr val="EE9C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pic>
        <p:nvPicPr>
          <p:cNvPr id="37" name="Picture 2" descr="商品写真 | DAIKO 大光電機 調色シーリング DCL-40507">
            <a:extLst>
              <a:ext uri="{FF2B5EF4-FFF2-40B4-BE49-F238E27FC236}">
                <a16:creationId xmlns:a16="http://schemas.microsoft.com/office/drawing/2014/main" id="{3000386E-BA25-BDC1-623F-C2ED37693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6076" y="2413353"/>
            <a:ext cx="1729005" cy="279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CF9288F-904D-BBB9-5E7F-036E7F5C013A}"/>
              </a:ext>
            </a:extLst>
          </p:cNvPr>
          <p:cNvSpPr txBox="1"/>
          <p:nvPr/>
        </p:nvSpPr>
        <p:spPr>
          <a:xfrm>
            <a:off x="7375364" y="29857"/>
            <a:ext cx="1475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人感センサ</a:t>
            </a:r>
            <a:r>
              <a:rPr lang="en-US" altLang="ja-JP" sz="1400" dirty="0"/>
              <a:t>SW</a:t>
            </a:r>
            <a:endParaRPr lang="ja-JP" altLang="en-US" sz="14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0960A95-2796-E450-521B-6E4CE9157F50}"/>
              </a:ext>
            </a:extLst>
          </p:cNvPr>
          <p:cNvSpPr txBox="1"/>
          <p:nvPr/>
        </p:nvSpPr>
        <p:spPr>
          <a:xfrm>
            <a:off x="9258528" y="13630"/>
            <a:ext cx="1230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調光</a:t>
            </a:r>
            <a:r>
              <a:rPr lang="en-US" altLang="ja-JP" sz="1400" dirty="0"/>
              <a:t>SW</a:t>
            </a:r>
            <a:endParaRPr lang="ja-JP" altLang="en-US" sz="1400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B5BED4C9-4A4D-06E0-961B-549BEB9C9514}"/>
              </a:ext>
            </a:extLst>
          </p:cNvPr>
          <p:cNvSpPr txBox="1"/>
          <p:nvPr/>
        </p:nvSpPr>
        <p:spPr>
          <a:xfrm>
            <a:off x="11288676" y="218167"/>
            <a:ext cx="397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100" dirty="0"/>
              <a:t>×3</a:t>
            </a:r>
            <a:endParaRPr lang="ja-JP" altLang="en-US" sz="1100" dirty="0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2D8C84D5-0F16-EE21-B8DA-B76143B9D051}"/>
              </a:ext>
            </a:extLst>
          </p:cNvPr>
          <p:cNvSpPr txBox="1"/>
          <p:nvPr/>
        </p:nvSpPr>
        <p:spPr>
          <a:xfrm>
            <a:off x="11027083" y="8752"/>
            <a:ext cx="1230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居室ｼｰﾘﾝｸﾞ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BB9ACBB7-C6FF-F99D-18D7-643F22972F31}"/>
              </a:ext>
            </a:extLst>
          </p:cNvPr>
          <p:cNvSpPr txBox="1"/>
          <p:nvPr/>
        </p:nvSpPr>
        <p:spPr>
          <a:xfrm>
            <a:off x="10799412" y="422197"/>
            <a:ext cx="20981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0" i="0" dirty="0">
                <a:solidFill>
                  <a:srgbClr val="333333"/>
                </a:solidFill>
                <a:effectLst/>
              </a:rPr>
              <a:t>DCL40507</a:t>
            </a:r>
            <a:endParaRPr lang="ja-JP" altLang="en-US" sz="1600" dirty="0"/>
          </a:p>
        </p:txBody>
      </p:sp>
      <p:sp>
        <p:nvSpPr>
          <p:cNvPr id="101" name="楕円 100">
            <a:extLst>
              <a:ext uri="{FF2B5EF4-FFF2-40B4-BE49-F238E27FC236}">
                <a16:creationId xmlns:a16="http://schemas.microsoft.com/office/drawing/2014/main" id="{C7A7C2F4-9BA6-2939-6FA3-C2D05DF04BF3}"/>
              </a:ext>
            </a:extLst>
          </p:cNvPr>
          <p:cNvSpPr/>
          <p:nvPr/>
        </p:nvSpPr>
        <p:spPr>
          <a:xfrm>
            <a:off x="1004311" y="1624942"/>
            <a:ext cx="98178" cy="9726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2" name="楕円 101">
            <a:extLst>
              <a:ext uri="{FF2B5EF4-FFF2-40B4-BE49-F238E27FC236}">
                <a16:creationId xmlns:a16="http://schemas.microsoft.com/office/drawing/2014/main" id="{A63AFA32-8676-E4C3-D211-92CA77FFA49E}"/>
              </a:ext>
            </a:extLst>
          </p:cNvPr>
          <p:cNvSpPr/>
          <p:nvPr/>
        </p:nvSpPr>
        <p:spPr>
          <a:xfrm>
            <a:off x="2149422" y="1805316"/>
            <a:ext cx="98178" cy="9726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03" name="楕円 102">
            <a:extLst>
              <a:ext uri="{FF2B5EF4-FFF2-40B4-BE49-F238E27FC236}">
                <a16:creationId xmlns:a16="http://schemas.microsoft.com/office/drawing/2014/main" id="{BF99711C-0842-5A3A-3AAE-8DC03C262B16}"/>
              </a:ext>
            </a:extLst>
          </p:cNvPr>
          <p:cNvSpPr/>
          <p:nvPr/>
        </p:nvSpPr>
        <p:spPr>
          <a:xfrm>
            <a:off x="3315487" y="1622513"/>
            <a:ext cx="98178" cy="97268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3528"/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6CE6D7C2-1F40-3A83-E966-90001AC96ADC}"/>
              </a:ext>
            </a:extLst>
          </p:cNvPr>
          <p:cNvSpPr txBox="1"/>
          <p:nvPr/>
        </p:nvSpPr>
        <p:spPr>
          <a:xfrm>
            <a:off x="4708726" y="43710"/>
            <a:ext cx="1475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/>
              <a:t>間接照明</a:t>
            </a:r>
          </a:p>
        </p:txBody>
      </p:sp>
      <p:pic>
        <p:nvPicPr>
          <p:cNvPr id="115" name="Picture 2" descr="DSY-4393AWG">
            <a:extLst>
              <a:ext uri="{FF2B5EF4-FFF2-40B4-BE49-F238E27FC236}">
                <a16:creationId xmlns:a16="http://schemas.microsoft.com/office/drawing/2014/main" id="{8B5A371F-4E4A-579D-A008-BB33B7576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654" y="670968"/>
            <a:ext cx="2365971" cy="360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" name="Picture 4" descr="大光電機 部品 DP40543">
            <a:extLst>
              <a:ext uri="{FF2B5EF4-FFF2-40B4-BE49-F238E27FC236}">
                <a16:creationId xmlns:a16="http://schemas.microsoft.com/office/drawing/2014/main" id="{6022F33A-B74D-57F8-5159-800A541DE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612" y="2734491"/>
            <a:ext cx="1024928" cy="155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6">
            <a:extLst>
              <a:ext uri="{FF2B5EF4-FFF2-40B4-BE49-F238E27FC236}">
                <a16:creationId xmlns:a16="http://schemas.microsoft.com/office/drawing/2014/main" id="{C176495B-F620-EE99-D804-6FCC745BC4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89" r="34286"/>
          <a:stretch/>
        </p:blipFill>
        <p:spPr bwMode="auto">
          <a:xfrm>
            <a:off x="6072024" y="3428407"/>
            <a:ext cx="961846" cy="943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26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</TotalTime>
  <Words>116</Words>
  <Application>Microsoft Office PowerPoint</Application>
  <PresentationFormat>A3 297x420 mm</PresentationFormat>
  <Paragraphs>45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白都 卓磨</dc:creator>
  <cp:lastModifiedBy>剛 倉田</cp:lastModifiedBy>
  <cp:revision>82</cp:revision>
  <cp:lastPrinted>2024-11-27T02:53:59Z</cp:lastPrinted>
  <dcterms:created xsi:type="dcterms:W3CDTF">2020-03-06T05:19:40Z</dcterms:created>
  <dcterms:modified xsi:type="dcterms:W3CDTF">2024-11-27T02:54:04Z</dcterms:modified>
</cp:coreProperties>
</file>